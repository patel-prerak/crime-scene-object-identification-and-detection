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 Forensics Object Specification and Identification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Evidence Detection &amp; Immersive Crime Scene Reconstruction</a:t>
            </a:r>
          </a:p>
          <a:p/>
          <a:p>
            <a:r>
              <a:t>Presenters: Paarth Birla, Dev Lad, Prerak Patel</a:t>
            </a:r>
          </a:p>
          <a:p>
            <a:r>
              <a:t>Guidance: Prof. Ranjit Kolkar</a:t>
            </a:r>
          </a:p>
          <a:p>
            <a:r>
              <a:t>National Forensic Sciences University (NFSU), Goa Campus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/>
            </a:pPr>
            <a:r>
              <a:t>Current Challenge:</a:t>
            </a:r>
          </a:p>
          <a:p>
            <a:pPr>
              <a:spcAft>
                <a:spcPts val="1400"/>
              </a:spcAft>
              <a:defRPr sz="2000"/>
            </a:pPr>
            <a:r>
              <a:t>- Traditional crime scene investigation is time-consuming (manual documentation).</a:t>
            </a:r>
          </a:p>
          <a:p>
            <a:pPr>
              <a:spcAft>
                <a:spcPts val="1400"/>
              </a:spcAft>
              <a:defRPr sz="2000"/>
            </a:pPr>
            <a:r>
              <a:t>- High risk of evidence contamination and human error.</a:t>
            </a:r>
          </a:p>
          <a:p>
            <a:pPr>
              <a:spcAft>
                <a:spcPts val="1400"/>
              </a:spcAft>
              <a:defRPr sz="2000"/>
            </a:pPr>
            <a:r>
              <a:t>- Chain of Custody is difficult to maintain with physical logs.</a:t>
            </a:r>
          </a:p>
          <a:p>
            <a:pPr>
              <a:spcAft>
                <a:spcPts val="1400"/>
              </a:spcAft>
              <a:defRPr sz="2000"/>
            </a:pPr>
          </a:p>
          <a:p>
            <a:pPr>
              <a:spcAft>
                <a:spcPts val="1400"/>
              </a:spcAft>
              <a:defRPr sz="2000"/>
            </a:pPr>
            <a:r>
              <a:t>Our Solution:</a:t>
            </a:r>
          </a:p>
          <a:p>
            <a:pPr>
              <a:spcAft>
                <a:spcPts val="1400"/>
              </a:spcAft>
              <a:defRPr sz="2000"/>
            </a:pPr>
            <a:r>
              <a:t>- Automated, AI-driven system for real-time evidence identification.</a:t>
            </a:r>
          </a:p>
          <a:p>
            <a:pPr>
              <a:spcAft>
                <a:spcPts val="1400"/>
              </a:spcAft>
              <a:defRPr sz="2000"/>
            </a:pPr>
            <a:r>
              <a:t>- Bridges Computer Vision (CV) and Forensic Science.</a:t>
            </a:r>
          </a:p>
          <a:p>
            <a:pPr>
              <a:spcAft>
                <a:spcPts val="1400"/>
              </a:spcAft>
              <a:defRPr sz="2000"/>
            </a:pPr>
            <a:r>
              <a:t>- Foundation for immersive AR/VR reconstruction.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and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/>
            </a:pPr>
            <a:r>
              <a:t>Purpose:</a:t>
            </a:r>
          </a:p>
          <a:p>
            <a:pPr>
              <a:spcAft>
                <a:spcPts val="1400"/>
              </a:spcAft>
              <a:defRPr sz="2000"/>
            </a:pPr>
            <a:r>
              <a:t>- Automation: Reduce cognitive load (auto-flag weapons, blood).</a:t>
            </a:r>
          </a:p>
          <a:p>
            <a:pPr>
              <a:spcAft>
                <a:spcPts val="1400"/>
              </a:spcAft>
              <a:defRPr sz="2000"/>
            </a:pPr>
            <a:r>
              <a:t>- Integrity: Immutable digital record immediately upon arrival.</a:t>
            </a:r>
          </a:p>
          <a:p>
            <a:pPr>
              <a:spcAft>
                <a:spcPts val="1400"/>
              </a:spcAft>
              <a:defRPr sz="2000"/>
            </a:pPr>
            <a:r>
              <a:t>- Safety: Remote assessment of dangerous scenes.</a:t>
            </a:r>
          </a:p>
          <a:p>
            <a:pPr>
              <a:spcAft>
                <a:spcPts val="1400"/>
              </a:spcAft>
              <a:defRPr sz="2000"/>
            </a:pPr>
          </a:p>
          <a:p>
            <a:pPr>
              <a:spcAft>
                <a:spcPts val="1400"/>
              </a:spcAft>
              <a:defRPr sz="2000"/>
            </a:pPr>
            <a:r>
              <a:t>Scope:</a:t>
            </a:r>
          </a:p>
          <a:p>
            <a:pPr>
              <a:spcAft>
                <a:spcPts val="1400"/>
              </a:spcAft>
              <a:defRPr sz="2000"/>
            </a:pPr>
            <a:r>
              <a:t>- Current: Web-based analysis tool for static images (2.5D).</a:t>
            </a:r>
          </a:p>
          <a:p>
            <a:pPr>
              <a:spcAft>
                <a:spcPts val="1400"/>
              </a:spcAft>
              <a:defRPr sz="2000"/>
            </a:pPr>
            <a:r>
              <a:t>- Immediate: AR glasses for heads-up display.</a:t>
            </a:r>
          </a:p>
          <a:p>
            <a:pPr>
              <a:spcAft>
                <a:spcPts val="1400"/>
              </a:spcAft>
              <a:defRPr sz="2000"/>
            </a:pPr>
            <a:r>
              <a:t>- Long-term: Virtual Training, Remote Forensics, Courtroom Visualization.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/>
            </a:pPr>
            <a:r>
              <a:t>Manual Methods:</a:t>
            </a:r>
          </a:p>
          <a:p>
            <a:pPr>
              <a:spcAft>
                <a:spcPts val="1400"/>
              </a:spcAft>
              <a:defRPr sz="2000"/>
            </a:pPr>
            <a:r>
              <a:t>- Grid search, numbered markers. Effective but slow.</a:t>
            </a:r>
          </a:p>
          <a:p>
            <a:pPr>
              <a:spcAft>
                <a:spcPts val="1400"/>
              </a:spcAft>
              <a:defRPr sz="2000"/>
            </a:pPr>
          </a:p>
          <a:p>
            <a:pPr>
              <a:spcAft>
                <a:spcPts val="1400"/>
              </a:spcAft>
              <a:defRPr sz="2000"/>
            </a:pPr>
            <a:r>
              <a:t>Computer Vision in Forensics:</a:t>
            </a:r>
          </a:p>
          <a:p>
            <a:pPr>
              <a:spcAft>
                <a:spcPts val="1400"/>
              </a:spcAft>
              <a:defRPr sz="2000"/>
            </a:pPr>
            <a:r>
              <a:t>- Redmon et al. (YOLO): Revolutionized real-time detection.</a:t>
            </a:r>
          </a:p>
          <a:p>
            <a:pPr>
              <a:spcAft>
                <a:spcPts val="1400"/>
              </a:spcAft>
              <a:defRPr sz="2000"/>
            </a:pPr>
            <a:r>
              <a:t>- Previous Studies: Mostly single-class (e.g., only guns).</a:t>
            </a:r>
          </a:p>
          <a:p>
            <a:pPr>
              <a:spcAft>
                <a:spcPts val="1400"/>
              </a:spcAft>
              <a:defRPr sz="2000"/>
            </a:pPr>
            <a:r>
              <a:t>- Gap: Lack of integrated systems (Multi-class + 3D).</a:t>
            </a:r>
          </a:p>
          <a:p>
            <a:pPr>
              <a:spcAft>
                <a:spcPts val="1400"/>
              </a:spcAft>
              <a:defRPr sz="2000"/>
            </a:pPr>
          </a:p>
          <a:p>
            <a:pPr>
              <a:spcAft>
                <a:spcPts val="1400"/>
              </a:spcAft>
              <a:defRPr sz="2000"/>
            </a:pPr>
            <a:r>
              <a:t>Our Contribution:</a:t>
            </a:r>
          </a:p>
          <a:p>
            <a:pPr>
              <a:spcAft>
                <a:spcPts val="1400"/>
              </a:spcAft>
              <a:defRPr sz="2000"/>
            </a:pPr>
            <a:r>
              <a:t>- Dual-model ensemble + Depth estimation for 3D context.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/>
            </a:pPr>
            <a:r>
              <a:t>1. Ensemble Evidence Detector:</a:t>
            </a:r>
          </a:p>
          <a:p>
            <a:pPr>
              <a:spcAft>
                <a:spcPts val="1400"/>
              </a:spcAft>
              <a:defRPr sz="2000"/>
            </a:pPr>
            <a:r>
              <a:t>- Model A (Standard YOLOv8l): General objects (Person, electronics).</a:t>
            </a:r>
          </a:p>
          <a:p>
            <a:pPr>
              <a:spcAft>
                <a:spcPts val="1400"/>
              </a:spcAft>
              <a:defRPr sz="2000"/>
            </a:pPr>
            <a:r>
              <a:t>- Model B (Custom Forensic): Guns, Knives, Blood Stains.</a:t>
            </a:r>
          </a:p>
          <a:p>
            <a:pPr>
              <a:spcAft>
                <a:spcPts val="1400"/>
              </a:spcAft>
              <a:defRPr sz="2000"/>
            </a:pPr>
          </a:p>
          <a:p>
            <a:pPr>
              <a:spcAft>
                <a:spcPts val="1400"/>
              </a:spcAft>
              <a:defRPr sz="2000"/>
            </a:pPr>
            <a:r>
              <a:t>2. Detection Logic:</a:t>
            </a:r>
          </a:p>
          <a:p>
            <a:pPr>
              <a:spcAft>
                <a:spcPts val="1400"/>
              </a:spcAft>
              <a:defRPr sz="2000"/>
            </a:pPr>
            <a:r>
              <a:t>- Parallel Inference -&gt; Confidence Filtering (&gt;30%) -&gt; Result Merging.</a:t>
            </a:r>
          </a:p>
          <a:p>
            <a:pPr>
              <a:spcAft>
                <a:spcPts val="1400"/>
              </a:spcAft>
              <a:defRPr sz="2000"/>
            </a:pPr>
          </a:p>
          <a:p>
            <a:pPr>
              <a:spcAft>
                <a:spcPts val="1400"/>
              </a:spcAft>
              <a:defRPr sz="2000"/>
            </a:pPr>
            <a:r>
              <a:t>3. 3D Reconstruction:</a:t>
            </a:r>
          </a:p>
          <a:p>
            <a:pPr>
              <a:spcAft>
                <a:spcPts val="1400"/>
              </a:spcAft>
              <a:defRPr sz="2000"/>
            </a:pPr>
            <a:r>
              <a:t>- Depth Estimation (Monocular).</a:t>
            </a:r>
          </a:p>
          <a:p>
            <a:pPr>
              <a:spcAft>
                <a:spcPts val="1400"/>
              </a:spcAft>
              <a:defRPr sz="2000"/>
            </a:pPr>
            <a:r>
              <a:t>- Displacement Map extrusion in WebVR (A-Frame).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/>
            </a:pPr>
            <a:r>
              <a:t>Core Logic: Python 3.9+</a:t>
            </a:r>
          </a:p>
          <a:p>
            <a:pPr>
              <a:spcAft>
                <a:spcPts val="1400"/>
              </a:spcAft>
              <a:defRPr sz="2000"/>
            </a:pPr>
          </a:p>
          <a:p>
            <a:pPr>
              <a:spcAft>
                <a:spcPts val="1400"/>
              </a:spcAft>
              <a:defRPr sz="2000"/>
            </a:pPr>
            <a:r>
              <a:t>Computer Vision / AI:</a:t>
            </a:r>
          </a:p>
          <a:p>
            <a:pPr>
              <a:spcAft>
                <a:spcPts val="1400"/>
              </a:spcAft>
              <a:defRPr sz="2000"/>
            </a:pPr>
            <a:r>
              <a:t>- Ultralytics YOLOv8 detection</a:t>
            </a:r>
          </a:p>
          <a:p>
            <a:pPr>
              <a:spcAft>
                <a:spcPts val="1400"/>
              </a:spcAft>
              <a:defRPr sz="2000"/>
            </a:pPr>
            <a:r>
              <a:t>- OpenCV Processing</a:t>
            </a:r>
          </a:p>
          <a:p>
            <a:pPr>
              <a:spcAft>
                <a:spcPts val="1400"/>
              </a:spcAft>
              <a:defRPr sz="2000"/>
            </a:pPr>
            <a:r>
              <a:t>- NumPy &amp; Pandas</a:t>
            </a:r>
          </a:p>
          <a:p>
            <a:pPr>
              <a:spcAft>
                <a:spcPts val="1400"/>
              </a:spcAft>
              <a:defRPr sz="2000"/>
            </a:pPr>
          </a:p>
          <a:p>
            <a:pPr>
              <a:spcAft>
                <a:spcPts val="1400"/>
              </a:spcAft>
              <a:defRPr sz="2000"/>
            </a:pPr>
            <a:r>
              <a:t>Interfaces:</a:t>
            </a:r>
          </a:p>
          <a:p>
            <a:pPr>
              <a:spcAft>
                <a:spcPts val="1400"/>
              </a:spcAft>
              <a:defRPr sz="2000"/>
            </a:pPr>
            <a:r>
              <a:t>- Streamlit (Web UI - Forensic Theme)</a:t>
            </a:r>
          </a:p>
          <a:p>
            <a:pPr>
              <a:spcAft>
                <a:spcPts val="1400"/>
              </a:spcAft>
              <a:defRPr sz="2000"/>
            </a:pPr>
            <a:r>
              <a:t>- A-Frame (HTML5 VR Rendering)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/>
            </a:pPr>
            <a:r>
              <a:t>YOLOv8 (You Only Look Once - v8):</a:t>
            </a:r>
          </a:p>
          <a:p>
            <a:pPr>
              <a:spcAft>
                <a:spcPts val="1400"/>
              </a:spcAft>
              <a:defRPr sz="2000"/>
            </a:pPr>
            <a:r>
              <a:t>- Selected for speed (real-time) and accuracy.</a:t>
            </a:r>
          </a:p>
          <a:p>
            <a:pPr>
              <a:spcAft>
                <a:spcPts val="1400"/>
              </a:spcAft>
              <a:defRPr sz="2000"/>
            </a:pPr>
            <a:r>
              <a:t>- Anchor-free detection head (better for small objects).</a:t>
            </a:r>
          </a:p>
          <a:p>
            <a:pPr>
              <a:spcAft>
                <a:spcPts val="1400"/>
              </a:spcAft>
              <a:defRPr sz="2000"/>
            </a:pPr>
          </a:p>
          <a:p>
            <a:pPr>
              <a:spcAft>
                <a:spcPts val="1400"/>
              </a:spcAft>
              <a:defRPr sz="2000"/>
            </a:pPr>
            <a:r>
              <a:t>Training Strategy:</a:t>
            </a:r>
          </a:p>
          <a:p>
            <a:pPr>
              <a:spcAft>
                <a:spcPts val="1400"/>
              </a:spcAft>
              <a:defRPr sz="2000"/>
            </a:pPr>
            <a:r>
              <a:t>- Transfer Learning on Custom Model.</a:t>
            </a:r>
          </a:p>
          <a:p>
            <a:pPr>
              <a:spcAft>
                <a:spcPts val="1400"/>
              </a:spcAft>
              <a:defRPr sz="2000"/>
            </a:pPr>
            <a:r>
              <a:t>- Heavy augmentation (mosaic, scaling) to simulate crime scene conditions.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/>
            </a:pPr>
            <a:r>
              <a:t>Performance:</a:t>
            </a:r>
          </a:p>
          <a:p>
            <a:pPr>
              <a:spcAft>
                <a:spcPts val="1400"/>
              </a:spcAft>
              <a:defRPr sz="2000"/>
            </a:pPr>
            <a:r>
              <a:t>- Accuracy: &gt;85% mAP.</a:t>
            </a:r>
          </a:p>
          <a:p>
            <a:pPr>
              <a:spcAft>
                <a:spcPts val="1400"/>
              </a:spcAft>
              <a:defRPr sz="2000"/>
            </a:pPr>
            <a:r>
              <a:t>- Latency: &lt; 2 seconds/image.</a:t>
            </a:r>
          </a:p>
          <a:p>
            <a:pPr>
              <a:spcAft>
                <a:spcPts val="1400"/>
              </a:spcAft>
              <a:defRPr sz="2000"/>
            </a:pPr>
            <a:r>
              <a:t>- Reduced False Negatives via Ensemble.</a:t>
            </a:r>
          </a:p>
          <a:p>
            <a:pPr>
              <a:spcAft>
                <a:spcPts val="1400"/>
              </a:spcAft>
              <a:defRPr sz="2000"/>
            </a:pPr>
          </a:p>
          <a:p>
            <a:pPr>
              <a:spcAft>
                <a:spcPts val="1400"/>
              </a:spcAft>
              <a:defRPr sz="2000"/>
            </a:pPr>
            <a:r>
              <a:t>Key Features:</a:t>
            </a:r>
          </a:p>
          <a:p>
            <a:pPr>
              <a:spcAft>
                <a:spcPts val="1400"/>
              </a:spcAft>
              <a:defRPr sz="2000"/>
            </a:pPr>
            <a:r>
              <a:t>- 'Forensic Light' Theme (High contrast UI).</a:t>
            </a:r>
          </a:p>
          <a:p>
            <a:pPr>
              <a:spcAft>
                <a:spcPts val="1400"/>
              </a:spcAft>
              <a:defRPr sz="2000"/>
            </a:pPr>
            <a:r>
              <a:t>- Real-time 'CRITICAL' alerts for weapons.</a:t>
            </a:r>
          </a:p>
          <a:p>
            <a:pPr>
              <a:spcAft>
                <a:spcPts val="1400"/>
              </a:spcAft>
              <a:defRPr sz="2000"/>
            </a:pPr>
            <a:r>
              <a:t>- Evidence Badges (Color-coded).</a:t>
            </a:r>
          </a:p>
          <a:p>
            <a:pPr>
              <a:spcAft>
                <a:spcPts val="1400"/>
              </a:spcAft>
              <a:defRPr sz="2000"/>
            </a:pPr>
            <a:r>
              <a:t>- VR Mode (Instant 3D conversion).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Actual Project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/>
            </a:pPr>
            <a:r>
              <a:t>Ensemble Integration:</a:t>
            </a:r>
          </a:p>
          <a:p>
            <a:pPr>
              <a:spcAft>
                <a:spcPts val="1400"/>
              </a:spcAft>
              <a:defRPr sz="2000"/>
            </a:pPr>
            <a:r>
              <a:t>- Successfully runs two heavy models in parallel without crashing.</a:t>
            </a:r>
          </a:p>
          <a:p>
            <a:pPr>
              <a:spcAft>
                <a:spcPts val="1400"/>
              </a:spcAft>
              <a:defRPr sz="2000"/>
            </a:pPr>
          </a:p>
          <a:p>
            <a:pPr>
              <a:spcAft>
                <a:spcPts val="1400"/>
              </a:spcAft>
              <a:defRPr sz="2000"/>
            </a:pPr>
            <a:r>
              <a:t>VR Visualization:</a:t>
            </a:r>
          </a:p>
          <a:p>
            <a:pPr>
              <a:spcAft>
                <a:spcPts val="1400"/>
              </a:spcAft>
              <a:defRPr sz="2000"/>
            </a:pPr>
            <a:r>
              <a:t>- Projects detections into 3D space using depth maps.</a:t>
            </a:r>
          </a:p>
          <a:p>
            <a:pPr>
              <a:spcAft>
                <a:spcPts val="1400"/>
              </a:spcAft>
              <a:defRPr sz="2000"/>
            </a:pPr>
            <a:r>
              <a:t>- Users can navigate the scene in-browser.</a:t>
            </a:r>
          </a:p>
          <a:p>
            <a:pPr>
              <a:spcAft>
                <a:spcPts val="1400"/>
              </a:spcAft>
              <a:defRPr sz="2000"/>
            </a:pPr>
            <a:r>
              <a:t>- Labels float at correct depth, not just on screen 2D plane.</a:t>
            </a:r>
          </a:p>
          <a:p>
            <a:pPr>
              <a:spcAft>
                <a:spcPts val="1400"/>
              </a:spcAft>
              <a:defRPr sz="2000"/>
            </a:pPr>
          </a:p>
          <a:p>
            <a:pPr>
              <a:spcAft>
                <a:spcPts val="1400"/>
              </a:spcAft>
              <a:defRPr sz="2000"/>
            </a:pPr>
            <a:r>
              <a:t>UI Refinement:</a:t>
            </a:r>
          </a:p>
          <a:p>
            <a:pPr>
              <a:spcAft>
                <a:spcPts val="1400"/>
              </a:spcAft>
              <a:defRPr sz="2000"/>
            </a:pPr>
            <a:r>
              <a:t>- Polished 'Glassmorphism' design with purple/white palette.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 &amp;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/>
            </a:pPr>
            <a:r>
              <a:t>1. VR Training:</a:t>
            </a:r>
          </a:p>
          <a:p>
            <a:pPr>
              <a:spcAft>
                <a:spcPts val="1400"/>
              </a:spcAft>
              <a:defRPr sz="2000"/>
            </a:pPr>
            <a:r>
              <a:t>- Students explore procedural crime scenes safely.</a:t>
            </a:r>
          </a:p>
          <a:p>
            <a:pPr>
              <a:spcAft>
                <a:spcPts val="1400"/>
              </a:spcAft>
              <a:defRPr sz="2000"/>
            </a:pPr>
          </a:p>
          <a:p>
            <a:pPr>
              <a:spcAft>
                <a:spcPts val="1400"/>
              </a:spcAft>
              <a:defRPr sz="2000"/>
            </a:pPr>
            <a:r>
              <a:t>2. Court Admissibility:</a:t>
            </a:r>
          </a:p>
          <a:p>
            <a:pPr>
              <a:spcAft>
                <a:spcPts val="1400"/>
              </a:spcAft>
              <a:defRPr sz="2000"/>
            </a:pPr>
            <a:r>
              <a:t>- 'Virtual Jury' - Immersive 3D walkthroughs for context.</a:t>
            </a:r>
          </a:p>
          <a:p>
            <a:pPr>
              <a:spcAft>
                <a:spcPts val="1400"/>
              </a:spcAft>
              <a:defRPr sz="2000"/>
            </a:pPr>
            <a:r>
              <a:t>- Verifying witness lines-of-sight.</a:t>
            </a:r>
          </a:p>
          <a:p>
            <a:pPr>
              <a:spcAft>
                <a:spcPts val="1400"/>
              </a:spcAft>
              <a:defRPr sz="2000"/>
            </a:pPr>
          </a:p>
          <a:p>
            <a:pPr>
              <a:spcAft>
                <a:spcPts val="1400"/>
              </a:spcAft>
              <a:defRPr sz="2000"/>
            </a:pPr>
            <a:r>
              <a:t>3. Professional Tools:</a:t>
            </a:r>
          </a:p>
          <a:p>
            <a:pPr>
              <a:spcAft>
                <a:spcPts val="1400"/>
              </a:spcAft>
              <a:defRPr sz="2000"/>
            </a:pPr>
            <a:r>
              <a:t>- Remote Expert Consultation (Live 3D stream).</a:t>
            </a:r>
          </a:p>
          <a:p>
            <a:pPr>
              <a:spcAft>
                <a:spcPts val="1400"/>
              </a:spcAft>
              <a:defRPr sz="2000"/>
            </a:pPr>
            <a:r>
              <a:t>- Auto-Report Generation (Chain of Custody Compliant).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/>
            </a:pPr>
            <a:r>
              <a:t>- Demonstrates consumer-grade AI for forensic workflows.</a:t>
            </a:r>
          </a:p>
          <a:p>
            <a:pPr>
              <a:spcAft>
                <a:spcPts val="1400"/>
              </a:spcAft>
              <a:defRPr sz="2000"/>
            </a:pPr>
            <a:r>
              <a:t>- Combines Ensemble Object Detection with VR Visualization.</a:t>
            </a:r>
          </a:p>
          <a:p>
            <a:pPr>
              <a:spcAft>
                <a:spcPts val="1400"/>
              </a:spcAft>
              <a:defRPr sz="2000"/>
            </a:pPr>
            <a:r>
              <a:t>- Adds a new dimension to investigation: Depth and Immersion.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